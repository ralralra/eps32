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B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flipV="1">
            <a:off x="8842248" y="704088"/>
            <a:ext cx="685800" cy="365760"/>
          </a:xfrm>
          <a:prstGeom prst="line">
            <a:avLst/>
          </a:prstGeom>
          <a:noFill/>
          <a:ln w="12700">
            <a:solidFill>
              <a:srgbClr val="1BC3E8">
                <a:alpha val="5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528048" y="704088"/>
            <a:ext cx="685800" cy="502920"/>
          </a:xfrm>
          <a:prstGeom prst="line">
            <a:avLst/>
          </a:prstGeom>
          <a:noFill/>
          <a:ln w="12700">
            <a:solidFill>
              <a:srgbClr val="1BC3E8">
                <a:alpha val="5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10213848" y="841248"/>
            <a:ext cx="640080" cy="365760"/>
          </a:xfrm>
          <a:prstGeom prst="line">
            <a:avLst/>
          </a:prstGeom>
          <a:noFill/>
          <a:ln w="12700">
            <a:solidFill>
              <a:srgbClr val="1BC3E8">
                <a:alpha val="5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853928" y="841248"/>
            <a:ext cx="594360" cy="457200"/>
          </a:xfrm>
          <a:prstGeom prst="line">
            <a:avLst/>
          </a:prstGeom>
          <a:noFill/>
          <a:ln w="12700">
            <a:solidFill>
              <a:srgbClr val="1BC3E8">
                <a:alpha val="5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778240" y="1005840"/>
            <a:ext cx="128016" cy="128016"/>
          </a:xfrm>
          <a:prstGeom prst="ellipse">
            <a:avLst/>
          </a:prstGeom>
          <a:solidFill>
            <a:srgbClr val="1BC3E8"/>
          </a:solidFill>
          <a:ln/>
        </p:spPr>
      </p:sp>
      <p:sp>
        <p:nvSpPr>
          <p:cNvPr id="7" name="Shape 5"/>
          <p:cNvSpPr/>
          <p:nvPr/>
        </p:nvSpPr>
        <p:spPr>
          <a:xfrm>
            <a:off x="9464040" y="640080"/>
            <a:ext cx="128016" cy="128016"/>
          </a:xfrm>
          <a:prstGeom prst="ellipse">
            <a:avLst/>
          </a:prstGeom>
          <a:solidFill>
            <a:srgbClr val="1BC3E8">
              <a:alpha val="70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0149840" y="1143000"/>
            <a:ext cx="128016" cy="128016"/>
          </a:xfrm>
          <a:prstGeom prst="ellipse">
            <a:avLst/>
          </a:prstGeom>
          <a:solidFill>
            <a:srgbClr val="1BC3E8"/>
          </a:solidFill>
          <a:ln/>
        </p:spPr>
      </p:sp>
      <p:sp>
        <p:nvSpPr>
          <p:cNvPr id="9" name="Shape 7"/>
          <p:cNvSpPr/>
          <p:nvPr/>
        </p:nvSpPr>
        <p:spPr>
          <a:xfrm>
            <a:off x="10789920" y="777240"/>
            <a:ext cx="128016" cy="128016"/>
          </a:xfrm>
          <a:prstGeom prst="ellipse">
            <a:avLst/>
          </a:prstGeom>
          <a:solidFill>
            <a:srgbClr val="1BC3E8">
              <a:alpha val="70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1384280" y="1234440"/>
            <a:ext cx="128016" cy="128016"/>
          </a:xfrm>
          <a:prstGeom prst="ellipse">
            <a:avLst/>
          </a:prstGeom>
          <a:solidFill>
            <a:srgbClr val="1BC3E8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45720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00" kern="0" dirty="0">
                <a:solidFill>
                  <a:srgbClr val="1BC3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웹 기반 IoT 메이커 교육 · ESP32 × 고릴라셀 DSL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02920" y="1051560"/>
            <a:ext cx="1691640" cy="475488"/>
          </a:xfrm>
          <a:prstGeom prst="roundRect">
            <a:avLst>
              <a:gd name="adj" fmla="val 50000"/>
            </a:avLst>
          </a:prstGeom>
          <a:solidFill>
            <a:srgbClr val="132C4F"/>
          </a:solidFill>
          <a:ln w="12700">
            <a:solidFill>
              <a:srgbClr val="1BC3E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2920" y="1051560"/>
            <a:ext cx="1691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7회차 / 7회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02920" y="1783080"/>
            <a:ext cx="11155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최종 발표</a:t>
            </a:r>
            <a:endParaRPr lang="en-US" sz="3800" dirty="0"/>
          </a:p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7주의 증명</a:t>
            </a:r>
            <a:endParaRPr lang="en-US" sz="3800" dirty="0"/>
          </a:p>
        </p:txBody>
      </p:sp>
      <p:sp>
        <p:nvSpPr>
          <p:cNvPr id="15" name="Text 13"/>
          <p:cNvSpPr/>
          <p:nvPr/>
        </p:nvSpPr>
        <p:spPr>
          <a:xfrm>
            <a:off x="502920" y="3310128"/>
            <a:ext cx="10789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AFC3D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다른 사람이 써도 되는 시스템일까요 — 테스트로 다듬고, 발표로 증명해요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02920" y="4434840"/>
            <a:ext cx="2679192" cy="1371600"/>
          </a:xfrm>
          <a:prstGeom prst="roundRect">
            <a:avLst>
              <a:gd name="adj" fmla="val 6667"/>
            </a:avLst>
          </a:prstGeom>
          <a:solidFill>
            <a:srgbClr val="132C4F"/>
          </a:solidFill>
          <a:ln w="12700">
            <a:solidFill>
              <a:srgbClr val="1E3A6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5800" y="45720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C3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1교시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85800" y="4919472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교차 사용성 테스트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364992" y="4434840"/>
            <a:ext cx="2679192" cy="1371600"/>
          </a:xfrm>
          <a:prstGeom prst="roundRect">
            <a:avLst>
              <a:gd name="adj" fmla="val 6667"/>
            </a:avLst>
          </a:prstGeom>
          <a:solidFill>
            <a:srgbClr val="132C4F"/>
          </a:solidFill>
          <a:ln w="12700">
            <a:solidFill>
              <a:srgbClr val="1E3A6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547872" y="45720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C3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2교시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3547872" y="4919472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 준비 · 리허설 · 백업 영상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6227064" y="4434840"/>
            <a:ext cx="2679192" cy="1371600"/>
          </a:xfrm>
          <a:prstGeom prst="roundRect">
            <a:avLst>
              <a:gd name="adj" fmla="val 6667"/>
            </a:avLst>
          </a:prstGeom>
          <a:solidFill>
            <a:srgbClr val="132C4F"/>
          </a:solidFill>
          <a:ln w="12700">
            <a:solidFill>
              <a:srgbClr val="1E3A6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09944" y="45720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C3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3교시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9944" y="4919472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최종 발표 &amp; 시연 ①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9089136" y="4434840"/>
            <a:ext cx="2679192" cy="1371600"/>
          </a:xfrm>
          <a:prstGeom prst="roundRect">
            <a:avLst>
              <a:gd name="adj" fmla="val 6667"/>
            </a:avLst>
          </a:prstGeom>
          <a:solidFill>
            <a:srgbClr val="132C4F"/>
          </a:solidFill>
          <a:ln w="12700">
            <a:solidFill>
              <a:srgbClr val="1E3A6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272016" y="45720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C3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4교시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9272016" y="4919472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최종 발표 ② · 성찰 · 시상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502920" y="6172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FC3D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테스트 · 리허설 · 최종 발표 · 4시간 과정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9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오늘의 목표와 흐름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21208" y="859536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50분 수업 + 10분 휴식 · 4교시</a:t>
            </a:r>
            <a:endParaRPr lang="en-US" sz="1450" dirty="0"/>
          </a:p>
        </p:txBody>
      </p:sp>
      <p:sp>
        <p:nvSpPr>
          <p:cNvPr id="4" name="Text 2"/>
          <p:cNvSpPr/>
          <p:nvPr/>
        </p:nvSpPr>
        <p:spPr>
          <a:xfrm>
            <a:off x="502920" y="14173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6B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오늘의 목표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02920" y="1920240"/>
            <a:ext cx="5806440" cy="1280160"/>
          </a:xfrm>
          <a:prstGeom prst="roundRect">
            <a:avLst>
              <a:gd name="adj" fmla="val 6429"/>
            </a:avLst>
          </a:prstGeom>
          <a:solidFill>
            <a:srgbClr val="FFFFFF"/>
          </a:solidFill>
          <a:ln w="12700">
            <a:solidFill>
              <a:srgbClr val="D9E4F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04088" y="2139696"/>
            <a:ext cx="384048" cy="384048"/>
          </a:xfrm>
          <a:prstGeom prst="ellipse">
            <a:avLst/>
          </a:prstGeom>
          <a:solidFill>
            <a:srgbClr val="1BC3E8"/>
          </a:solidFill>
          <a:ln/>
        </p:spPr>
      </p:sp>
      <p:sp>
        <p:nvSpPr>
          <p:cNvPr id="7" name="Text 5"/>
          <p:cNvSpPr/>
          <p:nvPr/>
        </p:nvSpPr>
        <p:spPr>
          <a:xfrm>
            <a:off x="704088" y="21396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1B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280160" y="2029968"/>
            <a:ext cx="489204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다른 팀의 시선으로 우리 시스템의 약점을 찾아 보완해요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502920" y="3337560"/>
            <a:ext cx="5806440" cy="1280160"/>
          </a:xfrm>
          <a:prstGeom prst="roundRect">
            <a:avLst>
              <a:gd name="adj" fmla="val 6429"/>
            </a:avLst>
          </a:prstGeom>
          <a:solidFill>
            <a:srgbClr val="FFFFFF"/>
          </a:solidFill>
          <a:ln w="12700">
            <a:solidFill>
              <a:srgbClr val="D9E4F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04088" y="3557016"/>
            <a:ext cx="384048" cy="384048"/>
          </a:xfrm>
          <a:prstGeom prst="ellipse">
            <a:avLst/>
          </a:prstGeom>
          <a:solidFill>
            <a:srgbClr val="1BC3E8"/>
          </a:solidFill>
          <a:ln/>
        </p:spPr>
      </p:sp>
      <p:sp>
        <p:nvSpPr>
          <p:cNvPr id="11" name="Text 9"/>
          <p:cNvSpPr/>
          <p:nvPr/>
        </p:nvSpPr>
        <p:spPr>
          <a:xfrm>
            <a:off x="704088" y="35570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1B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280160" y="3447288"/>
            <a:ext cx="489204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 정의부터 확장 계획까지, 5단계 구조로 발표를 완성해요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502920" y="4754880"/>
            <a:ext cx="5806440" cy="1280160"/>
          </a:xfrm>
          <a:prstGeom prst="roundRect">
            <a:avLst>
              <a:gd name="adj" fmla="val 6429"/>
            </a:avLst>
          </a:prstGeom>
          <a:solidFill>
            <a:srgbClr val="FFFFFF"/>
          </a:solidFill>
          <a:ln w="12700">
            <a:solidFill>
              <a:srgbClr val="D9E4F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04088" y="4974336"/>
            <a:ext cx="384048" cy="384048"/>
          </a:xfrm>
          <a:prstGeom prst="ellipse">
            <a:avLst/>
          </a:prstGeom>
          <a:solidFill>
            <a:srgbClr val="1BC3E8"/>
          </a:solidFill>
          <a:ln/>
        </p:spPr>
      </p:sp>
      <p:sp>
        <p:nvSpPr>
          <p:cNvPr id="15" name="Text 13"/>
          <p:cNvSpPr/>
          <p:nvPr/>
        </p:nvSpPr>
        <p:spPr>
          <a:xfrm>
            <a:off x="704088" y="49743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1B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1280160" y="4864608"/>
            <a:ext cx="489204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동료의 프로젝트를 기준을 갖고 평가하고, 나의 7주를 성찰해요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6720840" y="14173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6B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오늘의 시간표</a:t>
            </a:r>
            <a:endParaRPr lang="en-US" sz="16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720840" y="1920240"/>
          <a:ext cx="4965192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3959352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교시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활동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33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E6BE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1교시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교차 테스트 (옆 팀 시스템을 시나리오 카드로 사용) · 오류 보완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E6BE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2교시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발표 슬라이드 완성 · 시연 리허설 2회 · 백업 영상 촬영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E6BE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3교시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1~3팀 발표 (발표 5분 + 시연 4분 + 질의 2분)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E6BE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4교시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4~5팀 발표 · 상호평가 집계 · 성찰 · 시상 · 수료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9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'남'이 테스트해야 할까요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21208" y="859536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만든 사람은 자기 시스템의 함정을 보지 못해요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10454335" y="329184"/>
            <a:ext cx="1234440" cy="420624"/>
          </a:xfrm>
          <a:prstGeom prst="roundRect">
            <a:avLst>
              <a:gd name="adj" fmla="val 50000"/>
            </a:avLst>
          </a:prstGeom>
          <a:solidFill>
            <a:srgbClr val="0B1B33"/>
          </a:solidFill>
          <a:ln/>
        </p:spPr>
      </p:sp>
      <p:sp>
        <p:nvSpPr>
          <p:cNvPr id="5" name="Text 3"/>
          <p:cNvSpPr/>
          <p:nvPr/>
        </p:nvSpPr>
        <p:spPr>
          <a:xfrm>
            <a:off x="10454335" y="329184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C3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1교시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11183112" cy="117043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D9E4F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04088" y="1810512"/>
            <a:ext cx="384048" cy="384048"/>
          </a:xfrm>
          <a:prstGeom prst="ellipse">
            <a:avLst/>
          </a:prstGeom>
          <a:solidFill>
            <a:srgbClr val="E8F0FD"/>
          </a:solidFill>
          <a:ln/>
        </p:spPr>
      </p:sp>
      <p:sp>
        <p:nvSpPr>
          <p:cNvPr id="8" name="Text 6"/>
          <p:cNvSpPr/>
          <p:nvPr/>
        </p:nvSpPr>
        <p:spPr>
          <a:xfrm>
            <a:off x="704088" y="18105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6B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280160" y="1490472"/>
            <a:ext cx="101498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만든 사람의 사용법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정확한 순서로, 조심스럽게, 될 만한 것만 눌러요 — 버그가 숨을 곳이 많아요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02920" y="2715768"/>
            <a:ext cx="11183112" cy="117043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D9E4F1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04088" y="3108960"/>
            <a:ext cx="384048" cy="384048"/>
          </a:xfrm>
          <a:prstGeom prst="ellipse">
            <a:avLst/>
          </a:prstGeom>
          <a:solidFill>
            <a:srgbClr val="E8F0FD"/>
          </a:solidFill>
          <a:ln/>
        </p:spPr>
      </p:sp>
      <p:sp>
        <p:nvSpPr>
          <p:cNvPr id="12" name="Text 10"/>
          <p:cNvSpPr/>
          <p:nvPr/>
        </p:nvSpPr>
        <p:spPr>
          <a:xfrm>
            <a:off x="704088" y="3108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6B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280160" y="2788920"/>
            <a:ext cx="101498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처음 쓰는 사람의 사용법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설명 없이 아무거나, 연달아, 이상한 순서로 눌러요 — 진짜 사용 환경!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02920" y="4014216"/>
            <a:ext cx="11183112" cy="117043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D9E4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04088" y="4407408"/>
            <a:ext cx="384048" cy="384048"/>
          </a:xfrm>
          <a:prstGeom prst="ellipse">
            <a:avLst/>
          </a:prstGeom>
          <a:solidFill>
            <a:srgbClr val="E8F0FD"/>
          </a:solidFill>
          <a:ln/>
        </p:spPr>
      </p:sp>
      <p:sp>
        <p:nvSpPr>
          <p:cNvPr id="16" name="Text 14"/>
          <p:cNvSpPr/>
          <p:nvPr/>
        </p:nvSpPr>
        <p:spPr>
          <a:xfrm>
            <a:off x="704088" y="44074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6B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280160" y="4087368"/>
            <a:ext cx="101498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그래서 오늘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팀을 맞바꿔 옆 팀 시스템을 사용해 봐요 — 실제 기업의 'QA·베타테스트' 과정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9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따라하기 ① 테스트 시나리오 카드 실행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21208" y="859536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오류 기록 양식 : [언제] [무엇을 했더니] [무엇이 일어났다] [기대한 것은] — 4칸이 채워져야 고칠 수 있어요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10454335" y="329184"/>
            <a:ext cx="1234440" cy="420624"/>
          </a:xfrm>
          <a:prstGeom prst="roundRect">
            <a:avLst>
              <a:gd name="adj" fmla="val 50000"/>
            </a:avLst>
          </a:prstGeom>
          <a:solidFill>
            <a:srgbClr val="0B1B33"/>
          </a:solidFill>
          <a:ln/>
        </p:spPr>
      </p:sp>
      <p:sp>
        <p:nvSpPr>
          <p:cNvPr id="5" name="Text 3"/>
          <p:cNvSpPr/>
          <p:nvPr/>
        </p:nvSpPr>
        <p:spPr>
          <a:xfrm>
            <a:off x="10454335" y="329184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C3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1교시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11183112" cy="989838"/>
          </a:xfrm>
          <a:prstGeom prst="roundRect">
            <a:avLst>
              <a:gd name="adj" fmla="val 7390"/>
            </a:avLst>
          </a:prstGeom>
          <a:solidFill>
            <a:srgbClr val="FFFFFF"/>
          </a:solidFill>
          <a:ln w="12700">
            <a:solidFill>
              <a:srgbClr val="D9E4F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04088" y="1720215"/>
            <a:ext cx="384048" cy="384048"/>
          </a:xfrm>
          <a:prstGeom prst="ellipse">
            <a:avLst/>
          </a:prstGeom>
          <a:solidFill>
            <a:srgbClr val="E8F0FD"/>
          </a:solidFill>
          <a:ln/>
        </p:spPr>
      </p:sp>
      <p:sp>
        <p:nvSpPr>
          <p:cNvPr id="8" name="Text 6"/>
          <p:cNvSpPr/>
          <p:nvPr/>
        </p:nvSpPr>
        <p:spPr>
          <a:xfrm>
            <a:off x="704088" y="1720215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6B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280160" y="1490472"/>
            <a:ext cx="10149840" cy="843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정상 시나리오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안내 문구만 보고 기본 기능 사용 — 설명 없이 가능했나요?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02920" y="2535174"/>
            <a:ext cx="11183112" cy="989838"/>
          </a:xfrm>
          <a:prstGeom prst="roundRect">
            <a:avLst>
              <a:gd name="adj" fmla="val 7390"/>
            </a:avLst>
          </a:prstGeom>
          <a:solidFill>
            <a:srgbClr val="FFFFFF"/>
          </a:solidFill>
          <a:ln w="12700">
            <a:solidFill>
              <a:srgbClr val="D9E4F1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04088" y="2838069"/>
            <a:ext cx="384048" cy="384048"/>
          </a:xfrm>
          <a:prstGeom prst="ellipse">
            <a:avLst/>
          </a:prstGeom>
          <a:solidFill>
            <a:srgbClr val="E8F0FD"/>
          </a:solidFill>
          <a:ln/>
        </p:spPr>
      </p:sp>
      <p:sp>
        <p:nvSpPr>
          <p:cNvPr id="12" name="Text 10"/>
          <p:cNvSpPr/>
          <p:nvPr/>
        </p:nvSpPr>
        <p:spPr>
          <a:xfrm>
            <a:off x="704088" y="2838069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6B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280160" y="2608326"/>
            <a:ext cx="10149840" cy="843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짓궂은 시나리오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버튼 연타 · 뒤로 가기 · 순서 바꿔 누르기 — 시스템이 버티나요?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02920" y="3653028"/>
            <a:ext cx="11183112" cy="989838"/>
          </a:xfrm>
          <a:prstGeom prst="roundRect">
            <a:avLst>
              <a:gd name="adj" fmla="val 7390"/>
            </a:avLst>
          </a:prstGeom>
          <a:solidFill>
            <a:srgbClr val="FFFFFF"/>
          </a:solidFill>
          <a:ln w="12700">
            <a:solidFill>
              <a:srgbClr val="D9E4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04088" y="3955923"/>
            <a:ext cx="384048" cy="384048"/>
          </a:xfrm>
          <a:prstGeom prst="ellipse">
            <a:avLst/>
          </a:prstGeom>
          <a:solidFill>
            <a:srgbClr val="E8F0FD"/>
          </a:solidFill>
          <a:ln/>
        </p:spPr>
      </p:sp>
      <p:sp>
        <p:nvSpPr>
          <p:cNvPr id="16" name="Text 14"/>
          <p:cNvSpPr/>
          <p:nvPr/>
        </p:nvSpPr>
        <p:spPr>
          <a:xfrm>
            <a:off x="704088" y="3955923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6B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280160" y="3726180"/>
            <a:ext cx="10149840" cy="843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확인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방금 행동이 시트에 정확히 남았나요? 중복·누락은 없나요?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502920" y="4770882"/>
            <a:ext cx="11183112" cy="989838"/>
          </a:xfrm>
          <a:prstGeom prst="roundRect">
            <a:avLst>
              <a:gd name="adj" fmla="val 7390"/>
            </a:avLst>
          </a:prstGeom>
          <a:solidFill>
            <a:srgbClr val="FFFFFF"/>
          </a:solidFill>
          <a:ln w="12700">
            <a:solidFill>
              <a:srgbClr val="D9E4F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04088" y="5073777"/>
            <a:ext cx="384048" cy="384048"/>
          </a:xfrm>
          <a:prstGeom prst="ellipse">
            <a:avLst/>
          </a:prstGeom>
          <a:solidFill>
            <a:srgbClr val="E8F0FD"/>
          </a:solidFill>
          <a:ln/>
        </p:spPr>
      </p:sp>
      <p:sp>
        <p:nvSpPr>
          <p:cNvPr id="20" name="Text 18"/>
          <p:cNvSpPr/>
          <p:nvPr/>
        </p:nvSpPr>
        <p:spPr>
          <a:xfrm>
            <a:off x="704088" y="5073777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6B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1280160" y="4844034"/>
            <a:ext cx="10149840" cy="843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관찰 기록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사용자가 머뭇거린 지점 = 개선 포인트. '어디서 3초 이상 멈췄나'를 적어요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502920" y="5989320"/>
            <a:ext cx="11183112" cy="566928"/>
          </a:xfrm>
          <a:prstGeom prst="roundRect">
            <a:avLst>
              <a:gd name="adj" fmla="val 12903"/>
            </a:avLst>
          </a:prstGeom>
          <a:solidFill>
            <a:srgbClr val="E2F6FB"/>
          </a:solidFill>
          <a:ln/>
        </p:spPr>
      </p:sp>
      <p:sp>
        <p:nvSpPr>
          <p:cNvPr id="23" name="Text 21"/>
          <p:cNvSpPr/>
          <p:nvPr/>
        </p:nvSpPr>
        <p:spPr>
          <a:xfrm>
            <a:off x="731520" y="5989320"/>
            <a:ext cx="10744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수리 원칙 : 화면 수준의 작은 수리만! 큰 수술은 발표에서 '한계와 개선 계획'으로 말하는 게 더 멋있어요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9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 구성 — 5단계 스토리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21208" y="859536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기술 자랑이 아니라 '문제 해결 이야기'를 들려줘요 (발표 5분 + 시연 4분 + 질의 2분)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10454335" y="329184"/>
            <a:ext cx="1234440" cy="420624"/>
          </a:xfrm>
          <a:prstGeom prst="roundRect">
            <a:avLst>
              <a:gd name="adj" fmla="val 50000"/>
            </a:avLst>
          </a:prstGeom>
          <a:solidFill>
            <a:srgbClr val="0B1B33"/>
          </a:solidFill>
          <a:ln/>
        </p:spPr>
      </p:sp>
      <p:sp>
        <p:nvSpPr>
          <p:cNvPr id="5" name="Text 3"/>
          <p:cNvSpPr/>
          <p:nvPr/>
        </p:nvSpPr>
        <p:spPr>
          <a:xfrm>
            <a:off x="10454335" y="329184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C3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2교시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11183112" cy="766267"/>
          </a:xfrm>
          <a:prstGeom prst="roundRect">
            <a:avLst>
              <a:gd name="adj" fmla="val 9547"/>
            </a:avLst>
          </a:prstGeom>
          <a:solidFill>
            <a:srgbClr val="FFFFFF"/>
          </a:solidFill>
          <a:ln w="12700">
            <a:solidFill>
              <a:srgbClr val="D9E4F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04088" y="1608430"/>
            <a:ext cx="384048" cy="384048"/>
          </a:xfrm>
          <a:prstGeom prst="ellipse">
            <a:avLst/>
          </a:prstGeom>
          <a:solidFill>
            <a:srgbClr val="E8F0FD"/>
          </a:solidFill>
          <a:ln/>
        </p:spPr>
      </p:sp>
      <p:sp>
        <p:nvSpPr>
          <p:cNvPr id="8" name="Text 6"/>
          <p:cNvSpPr/>
          <p:nvPr/>
        </p:nvSpPr>
        <p:spPr>
          <a:xfrm>
            <a:off x="704088" y="160843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6B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280160" y="1490472"/>
            <a:ext cx="10149840" cy="6199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① 문제 정의 (1장)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우리 학교의 어떤 불편함에서 출발했나 — 사진 한 장이면 최고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02920" y="2311603"/>
            <a:ext cx="11183112" cy="766267"/>
          </a:xfrm>
          <a:prstGeom prst="roundRect">
            <a:avLst>
              <a:gd name="adj" fmla="val 9547"/>
            </a:avLst>
          </a:prstGeom>
          <a:solidFill>
            <a:srgbClr val="FFFFFF"/>
          </a:solidFill>
          <a:ln w="12700">
            <a:solidFill>
              <a:srgbClr val="D9E4F1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04088" y="2502713"/>
            <a:ext cx="384048" cy="384048"/>
          </a:xfrm>
          <a:prstGeom prst="ellipse">
            <a:avLst/>
          </a:prstGeom>
          <a:solidFill>
            <a:srgbClr val="E8F0FD"/>
          </a:solidFill>
          <a:ln/>
        </p:spPr>
      </p:sp>
      <p:sp>
        <p:nvSpPr>
          <p:cNvPr id="12" name="Text 10"/>
          <p:cNvSpPr/>
          <p:nvPr/>
        </p:nvSpPr>
        <p:spPr>
          <a:xfrm>
            <a:off x="704088" y="2502713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6B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280160" y="2384755"/>
            <a:ext cx="10149840" cy="6199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② 우리의 설계 (1~2장)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시스템 구조도 + 구조 B를 선택한 이유 (4회차 비교표가 근거!)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02920" y="3205886"/>
            <a:ext cx="11183112" cy="766267"/>
          </a:xfrm>
          <a:prstGeom prst="roundRect">
            <a:avLst>
              <a:gd name="adj" fmla="val 9547"/>
            </a:avLst>
          </a:prstGeom>
          <a:solidFill>
            <a:srgbClr val="FFFFFF"/>
          </a:solidFill>
          <a:ln w="12700">
            <a:solidFill>
              <a:srgbClr val="D9E4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04088" y="3396996"/>
            <a:ext cx="384048" cy="384048"/>
          </a:xfrm>
          <a:prstGeom prst="ellipse">
            <a:avLst/>
          </a:prstGeom>
          <a:solidFill>
            <a:srgbClr val="E8F0FD"/>
          </a:solidFill>
          <a:ln/>
        </p:spPr>
      </p:sp>
      <p:sp>
        <p:nvSpPr>
          <p:cNvPr id="16" name="Text 14"/>
          <p:cNvSpPr/>
          <p:nvPr/>
        </p:nvSpPr>
        <p:spPr>
          <a:xfrm>
            <a:off x="704088" y="33969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6B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280160" y="3279038"/>
            <a:ext cx="10149840" cy="6199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③ 시연 (실물 4분) — 발표의 심장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시나리오를 폰→장치→시트 순서로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502920" y="4100170"/>
            <a:ext cx="11183112" cy="766267"/>
          </a:xfrm>
          <a:prstGeom prst="roundRect">
            <a:avLst>
              <a:gd name="adj" fmla="val 9547"/>
            </a:avLst>
          </a:prstGeom>
          <a:solidFill>
            <a:srgbClr val="FFFFFF"/>
          </a:solidFill>
          <a:ln w="12700">
            <a:solidFill>
              <a:srgbClr val="D9E4F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04088" y="4291279"/>
            <a:ext cx="384048" cy="384048"/>
          </a:xfrm>
          <a:prstGeom prst="ellipse">
            <a:avLst/>
          </a:prstGeom>
          <a:solidFill>
            <a:srgbClr val="E8F0FD"/>
          </a:solidFill>
          <a:ln/>
        </p:spPr>
      </p:sp>
      <p:sp>
        <p:nvSpPr>
          <p:cNvPr id="20" name="Text 18"/>
          <p:cNvSpPr/>
          <p:nvPr/>
        </p:nvSpPr>
        <p:spPr>
          <a:xfrm>
            <a:off x="704088" y="4291279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6B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1280160" y="4173322"/>
            <a:ext cx="10149840" cy="6199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④ 우회와 배움 (1장)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'RFID 대신 웹 버튼을 쓴 이유' — 제약을 설계로 푼 이야기는 감점이 아니라 가점!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502920" y="4994453"/>
            <a:ext cx="11183112" cy="766267"/>
          </a:xfrm>
          <a:prstGeom prst="roundRect">
            <a:avLst>
              <a:gd name="adj" fmla="val 9547"/>
            </a:avLst>
          </a:prstGeom>
          <a:solidFill>
            <a:srgbClr val="FFFFFF"/>
          </a:solidFill>
          <a:ln w="12700">
            <a:solidFill>
              <a:srgbClr val="D9E4F1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04088" y="5185562"/>
            <a:ext cx="384048" cy="384048"/>
          </a:xfrm>
          <a:prstGeom prst="ellipse">
            <a:avLst/>
          </a:prstGeom>
          <a:solidFill>
            <a:srgbClr val="E8F0FD"/>
          </a:solidFill>
          <a:ln/>
        </p:spPr>
      </p:sp>
      <p:sp>
        <p:nvSpPr>
          <p:cNvPr id="24" name="Text 22"/>
          <p:cNvSpPr/>
          <p:nvPr/>
        </p:nvSpPr>
        <p:spPr>
          <a:xfrm>
            <a:off x="704088" y="518556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6B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1280160" y="5067605"/>
            <a:ext cx="10149840" cy="6199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⑤ 데이터와 확장 (1장)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쌓인 데이터·통계 보여주기 + '한 달 더 있다면?' 확장 계획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502920" y="5989320"/>
            <a:ext cx="11183112" cy="566928"/>
          </a:xfrm>
          <a:prstGeom prst="roundRect">
            <a:avLst>
              <a:gd name="adj" fmla="val 12903"/>
            </a:avLst>
          </a:prstGeom>
          <a:solidFill>
            <a:srgbClr val="E2F6FB"/>
          </a:solidFill>
          <a:ln/>
        </p:spPr>
      </p:sp>
      <p:sp>
        <p:nvSpPr>
          <p:cNvPr id="27" name="Text 25"/>
          <p:cNvSpPr/>
          <p:nvPr/>
        </p:nvSpPr>
        <p:spPr>
          <a:xfrm>
            <a:off x="731520" y="5989320"/>
            <a:ext cx="10744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리허설로 시간을 실측하지 않으면 반드시 초과해요!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9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시연이 무대에서 배신하지 않게 하려면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21208" y="859536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리허설 때 확정한 배치를 사진으로 남기면, 본 발표 세팅이 3분 만에 끝나요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10454335" y="329184"/>
            <a:ext cx="1234440" cy="420624"/>
          </a:xfrm>
          <a:prstGeom prst="roundRect">
            <a:avLst>
              <a:gd name="adj" fmla="val 50000"/>
            </a:avLst>
          </a:prstGeom>
          <a:solidFill>
            <a:srgbClr val="0B1B33"/>
          </a:solidFill>
          <a:ln/>
        </p:spPr>
      </p:sp>
      <p:sp>
        <p:nvSpPr>
          <p:cNvPr id="5" name="Text 3"/>
          <p:cNvSpPr/>
          <p:nvPr/>
        </p:nvSpPr>
        <p:spPr>
          <a:xfrm>
            <a:off x="10454335" y="329184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C3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2교시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5212080" cy="2400300"/>
          </a:xfrm>
          <a:prstGeom prst="roundRect">
            <a:avLst>
              <a:gd name="adj" fmla="val 3810"/>
            </a:avLst>
          </a:prstGeom>
          <a:solidFill>
            <a:srgbClr val="FAFCFF"/>
          </a:solidFill>
          <a:ln w="19050">
            <a:solidFill>
              <a:srgbClr val="2E6BE6"/>
            </a:solidFill>
            <a:prstDash val="dash"/>
          </a:ln>
        </p:spPr>
      </p:sp>
      <p:sp>
        <p:nvSpPr>
          <p:cNvPr id="7" name="Text 5"/>
          <p:cNvSpPr/>
          <p:nvPr/>
        </p:nvSpPr>
        <p:spPr>
          <a:xfrm>
            <a:off x="502920" y="2114550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📷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777240" y="2690622"/>
            <a:ext cx="4663440" cy="1062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이미지 자리 — 발표 부스 세팅 사진 — 장비 배치 전경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02920" y="4091940"/>
            <a:ext cx="5212080" cy="2400300"/>
          </a:xfrm>
          <a:prstGeom prst="roundRect">
            <a:avLst>
              <a:gd name="adj" fmla="val 3810"/>
            </a:avLst>
          </a:prstGeom>
          <a:solidFill>
            <a:srgbClr val="FAFCFF"/>
          </a:solidFill>
          <a:ln w="19050">
            <a:solidFill>
              <a:srgbClr val="2E6BE6"/>
            </a:solidFill>
            <a:prstDash val="dash"/>
          </a:ln>
        </p:spPr>
      </p:sp>
      <p:sp>
        <p:nvSpPr>
          <p:cNvPr id="10" name="Text 8"/>
          <p:cNvSpPr/>
          <p:nvPr/>
        </p:nvSpPr>
        <p:spPr>
          <a:xfrm>
            <a:off x="502920" y="4789170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📷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777240" y="5365242"/>
            <a:ext cx="4663440" cy="1062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이미지 자리 — 폰 화면 공유 상태(미러링/카메라) 확인 컷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126480" y="1371600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6B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진행 순서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126480" y="2043684"/>
            <a:ext cx="329184" cy="329184"/>
          </a:xfrm>
          <a:prstGeom prst="ellipse">
            <a:avLst/>
          </a:prstGeom>
          <a:solidFill>
            <a:srgbClr val="1BC3E8"/>
          </a:solidFill>
          <a:ln/>
        </p:spPr>
      </p:sp>
      <p:sp>
        <p:nvSpPr>
          <p:cNvPr id="14" name="Text 12"/>
          <p:cNvSpPr/>
          <p:nvPr/>
        </p:nvSpPr>
        <p:spPr>
          <a:xfrm>
            <a:off x="6126480" y="20436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B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583680" y="1783080"/>
            <a:ext cx="507492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리허설 최소 2회</a:t>
            </a:r>
            <a:endParaRPr lang="en-US" sz="1450" dirty="0"/>
          </a:p>
          <a:p>
            <a:pPr indent="0" marL="0">
              <a:buNone/>
            </a:pPr>
            <a:r>
              <a:rPr lang="en-US" sz="140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1회 : 흐름 점검 / 2회 : 시간 재기 + 역할(조작·해설) 확정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6126480" y="2985516"/>
            <a:ext cx="329184" cy="329184"/>
          </a:xfrm>
          <a:prstGeom prst="ellipse">
            <a:avLst/>
          </a:prstGeom>
          <a:solidFill>
            <a:srgbClr val="1BC3E8"/>
          </a:solidFill>
          <a:ln/>
        </p:spPr>
      </p:sp>
      <p:sp>
        <p:nvSpPr>
          <p:cNvPr id="17" name="Text 15"/>
          <p:cNvSpPr/>
          <p:nvPr/>
        </p:nvSpPr>
        <p:spPr>
          <a:xfrm>
            <a:off x="6126480" y="29855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B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583680" y="2724912"/>
            <a:ext cx="507492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백업 영상 촬영 (전 팀 의무)</a:t>
            </a:r>
            <a:endParaRPr lang="en-US" sz="1450" dirty="0"/>
          </a:p>
          <a:p>
            <a:pPr indent="0" marL="0">
              <a:buNone/>
            </a:pPr>
            <a:r>
              <a:rPr lang="en-US" sz="140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잘 되는 지금 모습을 녹화 — 무대 위 WiFi는 언제나 배신할 수 있어요</a:t>
            </a:r>
            <a:endParaRPr lang="en-US" sz="1450" dirty="0"/>
          </a:p>
        </p:txBody>
      </p:sp>
      <p:sp>
        <p:nvSpPr>
          <p:cNvPr id="19" name="Shape 17"/>
          <p:cNvSpPr/>
          <p:nvPr/>
        </p:nvSpPr>
        <p:spPr>
          <a:xfrm>
            <a:off x="6126480" y="3927348"/>
            <a:ext cx="329184" cy="329184"/>
          </a:xfrm>
          <a:prstGeom prst="ellipse">
            <a:avLst/>
          </a:prstGeom>
          <a:solidFill>
            <a:srgbClr val="1BC3E8"/>
          </a:solidFill>
          <a:ln/>
        </p:spPr>
      </p:sp>
      <p:sp>
        <p:nvSpPr>
          <p:cNvPr id="20" name="Text 18"/>
          <p:cNvSpPr/>
          <p:nvPr/>
        </p:nvSpPr>
        <p:spPr>
          <a:xfrm>
            <a:off x="6126480" y="39273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B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583680" y="3666744"/>
            <a:ext cx="507492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 환경 점검</a:t>
            </a:r>
            <a:endParaRPr lang="en-US" sz="1450" dirty="0"/>
          </a:p>
          <a:p>
            <a:pPr indent="0" marL="0">
              <a:buNone/>
            </a:pPr>
            <a:r>
              <a:rPr lang="en-US" sz="140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핫스팟 연결 · 보드 전원 · 폰 화면 미러링(또는 카메라) 리허설</a:t>
            </a:r>
            <a:endParaRPr lang="en-US" sz="1450" dirty="0"/>
          </a:p>
        </p:txBody>
      </p:sp>
      <p:sp>
        <p:nvSpPr>
          <p:cNvPr id="22" name="Shape 20"/>
          <p:cNvSpPr/>
          <p:nvPr/>
        </p:nvSpPr>
        <p:spPr>
          <a:xfrm>
            <a:off x="6126480" y="4869180"/>
            <a:ext cx="329184" cy="329184"/>
          </a:xfrm>
          <a:prstGeom prst="ellipse">
            <a:avLst/>
          </a:prstGeom>
          <a:solidFill>
            <a:srgbClr val="1BC3E8"/>
          </a:solidFill>
          <a:ln/>
        </p:spPr>
      </p:sp>
      <p:sp>
        <p:nvSpPr>
          <p:cNvPr id="23" name="Text 21"/>
          <p:cNvSpPr/>
          <p:nvPr/>
        </p:nvSpPr>
        <p:spPr>
          <a:xfrm>
            <a:off x="6126480" y="48691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B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583680" y="4608576"/>
            <a:ext cx="507492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실패 대응 시나리오</a:t>
            </a:r>
            <a:endParaRPr lang="en-US" sz="1450" dirty="0"/>
          </a:p>
          <a:p>
            <a:pPr indent="0" marL="0">
              <a:buNone/>
            </a:pPr>
            <a:r>
              <a:rPr lang="en-US" sz="140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시연이 멈추면 → 침착하게 '준비한 영상으로 보여드리겠습니다' — 이것도 실력!</a:t>
            </a:r>
            <a:endParaRPr lang="en-US" sz="1450" dirty="0"/>
          </a:p>
        </p:txBody>
      </p:sp>
      <p:sp>
        <p:nvSpPr>
          <p:cNvPr id="25" name="Shape 23"/>
          <p:cNvSpPr/>
          <p:nvPr/>
        </p:nvSpPr>
        <p:spPr>
          <a:xfrm>
            <a:off x="6126480" y="5811012"/>
            <a:ext cx="329184" cy="329184"/>
          </a:xfrm>
          <a:prstGeom prst="ellipse">
            <a:avLst/>
          </a:prstGeom>
          <a:solidFill>
            <a:srgbClr val="1BC3E8"/>
          </a:solidFill>
          <a:ln/>
        </p:spPr>
      </p:sp>
      <p:sp>
        <p:nvSpPr>
          <p:cNvPr id="26" name="Text 24"/>
          <p:cNvSpPr/>
          <p:nvPr/>
        </p:nvSpPr>
        <p:spPr>
          <a:xfrm>
            <a:off x="6126480" y="58110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B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583680" y="5550408"/>
            <a:ext cx="507492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부스 배치는 청중이 보이는 각도로</a:t>
            </a:r>
            <a:endParaRPr lang="en-US" sz="1450" dirty="0"/>
          </a:p>
          <a:p>
            <a:pPr indent="0" marL="0">
              <a:buNone/>
            </a:pPr>
            <a:r>
              <a:rPr lang="en-US" sz="140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보드·폰 거치대·노트북 위치를 사진으로 기록</a:t>
            </a:r>
            <a:endParaRPr lang="en-US" sz="1450" dirty="0"/>
          </a:p>
        </p:txBody>
      </p:sp>
      <p:sp>
        <p:nvSpPr>
          <p:cNvPr id="28" name="Shape 26"/>
          <p:cNvSpPr/>
          <p:nvPr/>
        </p:nvSpPr>
        <p:spPr>
          <a:xfrm>
            <a:off x="502920" y="5989320"/>
            <a:ext cx="11183112" cy="566928"/>
          </a:xfrm>
          <a:prstGeom prst="roundRect">
            <a:avLst>
              <a:gd name="adj" fmla="val 12903"/>
            </a:avLst>
          </a:prstGeom>
          <a:solidFill>
            <a:srgbClr val="E2F6FB"/>
          </a:solidFill>
          <a:ln/>
        </p:spPr>
      </p:sp>
      <p:sp>
        <p:nvSpPr>
          <p:cNvPr id="29" name="Text 27"/>
          <p:cNvSpPr/>
          <p:nvPr/>
        </p:nvSpPr>
        <p:spPr>
          <a:xfrm>
            <a:off x="731520" y="5989320"/>
            <a:ext cx="10744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리허설 2회 중 1회는 '처음 보는 사람' 앞에서 — 아는 사람 앞 리허설은 반쪽짜리예요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9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평가 기준 — 무엇을 보나요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21208" y="859536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결과물의 화려함보다 '과정과 이해'를 봐요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10454335" y="329184"/>
            <a:ext cx="1234440" cy="420624"/>
          </a:xfrm>
          <a:prstGeom prst="roundRect">
            <a:avLst>
              <a:gd name="adj" fmla="val 50000"/>
            </a:avLst>
          </a:prstGeom>
          <a:solidFill>
            <a:srgbClr val="0B1B33"/>
          </a:solidFill>
          <a:ln/>
        </p:spPr>
      </p:sp>
      <p:sp>
        <p:nvSpPr>
          <p:cNvPr id="5" name="Text 3"/>
          <p:cNvSpPr/>
          <p:nvPr/>
        </p:nvSpPr>
        <p:spPr>
          <a:xfrm>
            <a:off x="10454335" y="329184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C3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3교시</a:t>
            </a:r>
            <a:endParaRPr lang="en-US" sz="14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463040"/>
          <a:ext cx="11183112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7680960"/>
                <a:gridCol w="1490472"/>
              </a:tblGrid>
              <a:tr h="6583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영역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세부 기준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배점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33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과정 (40)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설계 문서의 구체성 · 진행 기록 · 역할 수행 · 문제 해결 과정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40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결과물 (40)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핵심 시나리오 완성도(엔드 투 엔드) · 데이터 기록과 통계 · 안정성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40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발표 (20)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5단계 구성 · 시연 성공(영상 대체 인정) · 질의 응답 · 시간 준수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20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02920" y="5989320"/>
            <a:ext cx="11183112" cy="566928"/>
          </a:xfrm>
          <a:prstGeom prst="roundRect">
            <a:avLst>
              <a:gd name="adj" fmla="val 12903"/>
            </a:avLst>
          </a:prstGeom>
          <a:solidFill>
            <a:srgbClr val="E2F6FB"/>
          </a:solidFill>
          <a:ln/>
        </p:spPr>
      </p:sp>
      <p:sp>
        <p:nvSpPr>
          <p:cNvPr id="8" name="Text 5"/>
          <p:cNvSpPr/>
          <p:nvPr/>
        </p:nvSpPr>
        <p:spPr>
          <a:xfrm>
            <a:off x="731520" y="5989320"/>
            <a:ext cx="10744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우회 전략은 감점 요소가 아니에요 — '제약 조건을 설계로 해결한 능력'으로 오히려 평가에 반영돼요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9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듣는 팀의 역할 — 상호평가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21208" y="859536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평가자가 되어 보면 내 프로젝트도 다시 보여요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10454335" y="329184"/>
            <a:ext cx="1234440" cy="420624"/>
          </a:xfrm>
          <a:prstGeom prst="roundRect">
            <a:avLst>
              <a:gd name="adj" fmla="val 50000"/>
            </a:avLst>
          </a:prstGeom>
          <a:solidFill>
            <a:srgbClr val="0B1B33"/>
          </a:solidFill>
          <a:ln/>
        </p:spPr>
      </p:sp>
      <p:sp>
        <p:nvSpPr>
          <p:cNvPr id="5" name="Text 3"/>
          <p:cNvSpPr/>
          <p:nvPr/>
        </p:nvSpPr>
        <p:spPr>
          <a:xfrm>
            <a:off x="10454335" y="329184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C3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3교시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11183112" cy="117043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D9E4F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04088" y="1810512"/>
            <a:ext cx="384048" cy="384048"/>
          </a:xfrm>
          <a:prstGeom prst="ellipse">
            <a:avLst/>
          </a:prstGeom>
          <a:solidFill>
            <a:srgbClr val="E8F0FD"/>
          </a:solidFill>
          <a:ln/>
        </p:spPr>
      </p:sp>
      <p:sp>
        <p:nvSpPr>
          <p:cNvPr id="8" name="Text 6"/>
          <p:cNvSpPr/>
          <p:nvPr/>
        </p:nvSpPr>
        <p:spPr>
          <a:xfrm>
            <a:off x="704088" y="18105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6B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280160" y="1490472"/>
            <a:ext cx="101498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상호평가지 작성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발표마다 : 가장 인상적인 점 1 · 궁금한 점 1 · 별점(완성도/발표력)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02920" y="2715768"/>
            <a:ext cx="11183112" cy="117043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D9E4F1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04088" y="3108960"/>
            <a:ext cx="384048" cy="384048"/>
          </a:xfrm>
          <a:prstGeom prst="ellipse">
            <a:avLst/>
          </a:prstGeom>
          <a:solidFill>
            <a:srgbClr val="E8F0FD"/>
          </a:solidFill>
          <a:ln/>
        </p:spPr>
      </p:sp>
      <p:sp>
        <p:nvSpPr>
          <p:cNvPr id="12" name="Text 10"/>
          <p:cNvSpPr/>
          <p:nvPr/>
        </p:nvSpPr>
        <p:spPr>
          <a:xfrm>
            <a:off x="704088" y="3108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6B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280160" y="2788920"/>
            <a:ext cx="101498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질문 규칙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팀당 최소 1개 질문 — '왜 그렇게 설계했나요?'류의 과정 질문이 좋은 질문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02920" y="4014216"/>
            <a:ext cx="11183112" cy="117043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D9E4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04088" y="4407408"/>
            <a:ext cx="384048" cy="384048"/>
          </a:xfrm>
          <a:prstGeom prst="ellipse">
            <a:avLst/>
          </a:prstGeom>
          <a:solidFill>
            <a:srgbClr val="E8F0FD"/>
          </a:solidFill>
          <a:ln/>
        </p:spPr>
      </p:sp>
      <p:sp>
        <p:nvSpPr>
          <p:cNvPr id="16" name="Text 14"/>
          <p:cNvSpPr/>
          <p:nvPr/>
        </p:nvSpPr>
        <p:spPr>
          <a:xfrm>
            <a:off x="704088" y="44074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6B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280160" y="4087368"/>
            <a:ext cx="101498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집계와 시상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교사 평가 + 상호평가 합산 → 최우수 · 아이디어상 · 끈기상 · 데이터상 · 협업상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502920" y="5989320"/>
            <a:ext cx="11183112" cy="566928"/>
          </a:xfrm>
          <a:prstGeom prst="roundRect">
            <a:avLst>
              <a:gd name="adj" fmla="val 12903"/>
            </a:avLst>
          </a:prstGeom>
          <a:solidFill>
            <a:srgbClr val="E2F6FB"/>
          </a:solidFill>
          <a:ln/>
        </p:spPr>
      </p:sp>
      <p:sp>
        <p:nvSpPr>
          <p:cNvPr id="19" name="Text 17"/>
          <p:cNvSpPr/>
          <p:nvPr/>
        </p:nvSpPr>
        <p:spPr>
          <a:xfrm>
            <a:off x="731520" y="5989320"/>
            <a:ext cx="10744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모든 팀이 하나 이상의 상을 받아요 — 7주를 완주한 것 자체가 이미 수상 자격이에요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9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성찰 — 세 가지 질문에 답을 쓰자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21208" y="859536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제출하는 마지막 산출물 : 성찰 노트 1장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10454335" y="329184"/>
            <a:ext cx="1234440" cy="420624"/>
          </a:xfrm>
          <a:prstGeom prst="roundRect">
            <a:avLst>
              <a:gd name="adj" fmla="val 50000"/>
            </a:avLst>
          </a:prstGeom>
          <a:solidFill>
            <a:srgbClr val="0B1B33"/>
          </a:solidFill>
          <a:ln/>
        </p:spPr>
      </p:sp>
      <p:sp>
        <p:nvSpPr>
          <p:cNvPr id="5" name="Text 3"/>
          <p:cNvSpPr/>
          <p:nvPr/>
        </p:nvSpPr>
        <p:spPr>
          <a:xfrm>
            <a:off x="10454335" y="329184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C3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4교시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11183112" cy="117043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D9E4F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04088" y="1810512"/>
            <a:ext cx="384048" cy="384048"/>
          </a:xfrm>
          <a:prstGeom prst="ellipse">
            <a:avLst/>
          </a:prstGeom>
          <a:solidFill>
            <a:srgbClr val="E8F0FD"/>
          </a:solidFill>
          <a:ln/>
        </p:spPr>
      </p:sp>
      <p:sp>
        <p:nvSpPr>
          <p:cNvPr id="8" name="Text 6"/>
          <p:cNvSpPr/>
          <p:nvPr/>
        </p:nvSpPr>
        <p:spPr>
          <a:xfrm>
            <a:off x="704088" y="18105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6B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280160" y="1490472"/>
            <a:ext cx="101498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① 가장 어려웠던 순간과 넘은 방법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에러 앞에서 무엇을 했나 — 구간을 나눠 점검했던 경험을 떠올려 봐요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02920" y="2715768"/>
            <a:ext cx="11183112" cy="117043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D9E4F1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04088" y="3108960"/>
            <a:ext cx="384048" cy="384048"/>
          </a:xfrm>
          <a:prstGeom prst="ellipse">
            <a:avLst/>
          </a:prstGeom>
          <a:solidFill>
            <a:srgbClr val="E8F0FD"/>
          </a:solidFill>
          <a:ln/>
        </p:spPr>
      </p:sp>
      <p:sp>
        <p:nvSpPr>
          <p:cNvPr id="12" name="Text 10"/>
          <p:cNvSpPr/>
          <p:nvPr/>
        </p:nvSpPr>
        <p:spPr>
          <a:xfrm>
            <a:off x="704088" y="3108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6B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280160" y="2788920"/>
            <a:ext cx="101498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② 7주 전의 나에게 해줄 조언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'설계 먼저 해' '한 번에 다 고치지 마' — 여러분의 조언이 다음 기수의 교재가 돼요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02920" y="4014216"/>
            <a:ext cx="11183112" cy="117043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D9E4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04088" y="4407408"/>
            <a:ext cx="384048" cy="384048"/>
          </a:xfrm>
          <a:prstGeom prst="ellipse">
            <a:avLst/>
          </a:prstGeom>
          <a:solidFill>
            <a:srgbClr val="E8F0FD"/>
          </a:solidFill>
          <a:ln/>
        </p:spPr>
      </p:sp>
      <p:sp>
        <p:nvSpPr>
          <p:cNvPr id="16" name="Text 14"/>
          <p:cNvSpPr/>
          <p:nvPr/>
        </p:nvSpPr>
        <p:spPr>
          <a:xfrm>
            <a:off x="704088" y="44074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6B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280160" y="4087368"/>
            <a:ext cx="101498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③ 더 배우고 싶어진 것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웹? 하드웨어? 데이터? AI? — 다음 걸음의 방향을 스스로 정해요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9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다음은? — 확장의 갈림길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21208" y="859536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오늘의 시스템은 진짜 서비스의 축소판 — 늘릴 방향도 진짜와 같아요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10454335" y="329184"/>
            <a:ext cx="1234440" cy="420624"/>
          </a:xfrm>
          <a:prstGeom prst="roundRect">
            <a:avLst>
              <a:gd name="adj" fmla="val 50000"/>
            </a:avLst>
          </a:prstGeom>
          <a:solidFill>
            <a:srgbClr val="0B1B33"/>
          </a:solidFill>
          <a:ln/>
        </p:spPr>
      </p:sp>
      <p:sp>
        <p:nvSpPr>
          <p:cNvPr id="5" name="Text 3"/>
          <p:cNvSpPr/>
          <p:nvPr/>
        </p:nvSpPr>
        <p:spPr>
          <a:xfrm>
            <a:off x="10454335" y="329184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C3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4교시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11183112" cy="1161288"/>
          </a:xfrm>
          <a:prstGeom prst="roundRect">
            <a:avLst>
              <a:gd name="adj" fmla="val 6299"/>
            </a:avLst>
          </a:prstGeom>
          <a:solidFill>
            <a:srgbClr val="FFFFFF"/>
          </a:solidFill>
          <a:ln w="12700">
            <a:solidFill>
              <a:srgbClr val="D9E4F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04088" y="1805940"/>
            <a:ext cx="384048" cy="384048"/>
          </a:xfrm>
          <a:prstGeom prst="ellipse">
            <a:avLst/>
          </a:prstGeom>
          <a:solidFill>
            <a:srgbClr val="E8F0FD"/>
          </a:solidFill>
          <a:ln/>
        </p:spPr>
      </p:sp>
      <p:sp>
        <p:nvSpPr>
          <p:cNvPr id="8" name="Text 6"/>
          <p:cNvSpPr/>
          <p:nvPr/>
        </p:nvSpPr>
        <p:spPr>
          <a:xfrm>
            <a:off x="704088" y="18059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6B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280160" y="1490472"/>
            <a:ext cx="10149840" cy="10149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더 깊은 하드웨어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외부 센서·액추에이터 추가, 배터리 구동, 케이스 3D프린팅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02920" y="2706624"/>
            <a:ext cx="11183112" cy="1161288"/>
          </a:xfrm>
          <a:prstGeom prst="roundRect">
            <a:avLst>
              <a:gd name="adj" fmla="val 6299"/>
            </a:avLst>
          </a:prstGeom>
          <a:solidFill>
            <a:srgbClr val="FFFFFF"/>
          </a:solidFill>
          <a:ln w="12700">
            <a:solidFill>
              <a:srgbClr val="D9E4F1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04088" y="3095244"/>
            <a:ext cx="384048" cy="384048"/>
          </a:xfrm>
          <a:prstGeom prst="ellipse">
            <a:avLst/>
          </a:prstGeom>
          <a:solidFill>
            <a:srgbClr val="E8F0FD"/>
          </a:solidFill>
          <a:ln/>
        </p:spPr>
      </p:sp>
      <p:sp>
        <p:nvSpPr>
          <p:cNvPr id="12" name="Text 10"/>
          <p:cNvSpPr/>
          <p:nvPr/>
        </p:nvSpPr>
        <p:spPr>
          <a:xfrm>
            <a:off x="704088" y="30952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6B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280160" y="2779776"/>
            <a:ext cx="10149840" cy="10149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더 깊은 소프트웨어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실제 DB(파이어베이스) · 알림 푸시 · 관리자 페이지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02920" y="3995928"/>
            <a:ext cx="11183112" cy="1161288"/>
          </a:xfrm>
          <a:prstGeom prst="roundRect">
            <a:avLst>
              <a:gd name="adj" fmla="val 6299"/>
            </a:avLst>
          </a:prstGeom>
          <a:solidFill>
            <a:srgbClr val="FFFFFF"/>
          </a:solidFill>
          <a:ln w="12700">
            <a:solidFill>
              <a:srgbClr val="D9E4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04088" y="4384548"/>
            <a:ext cx="384048" cy="384048"/>
          </a:xfrm>
          <a:prstGeom prst="ellipse">
            <a:avLst/>
          </a:prstGeom>
          <a:solidFill>
            <a:srgbClr val="E8F0FD"/>
          </a:solidFill>
          <a:ln/>
        </p:spPr>
      </p:sp>
      <p:sp>
        <p:nvSpPr>
          <p:cNvPr id="16" name="Text 14"/>
          <p:cNvSpPr/>
          <p:nvPr/>
        </p:nvSpPr>
        <p:spPr>
          <a:xfrm>
            <a:off x="704088" y="43845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6B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280160" y="4069080"/>
            <a:ext cx="10149840" cy="10149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더 깊은 데이터·AI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쌓인 CSV로 예측해 보기 · 이미지 분류 정확도 올리기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502920" y="5285232"/>
            <a:ext cx="11183112" cy="1161288"/>
          </a:xfrm>
          <a:prstGeom prst="roundRect">
            <a:avLst>
              <a:gd name="adj" fmla="val 6299"/>
            </a:avLst>
          </a:prstGeom>
          <a:solidFill>
            <a:srgbClr val="FFFFFF"/>
          </a:solidFill>
          <a:ln w="12700">
            <a:solidFill>
              <a:srgbClr val="D9E4F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04088" y="5673852"/>
            <a:ext cx="384048" cy="384048"/>
          </a:xfrm>
          <a:prstGeom prst="ellipse">
            <a:avLst/>
          </a:prstGeom>
          <a:solidFill>
            <a:srgbClr val="E8F0FD"/>
          </a:solidFill>
          <a:ln/>
        </p:spPr>
      </p:sp>
      <p:sp>
        <p:nvSpPr>
          <p:cNvPr id="20" name="Text 18"/>
          <p:cNvSpPr/>
          <p:nvPr/>
        </p:nvSpPr>
        <p:spPr>
          <a:xfrm>
            <a:off x="704088" y="56738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6B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1280160" y="5358384"/>
            <a:ext cx="10149840" cy="10149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동아리·대회로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교내 실사용 운영, 메이커 대회·창업 동아리 출품 — 우리 시스템은 이미 포트폴리오!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9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수업 정리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502920" y="1371600"/>
            <a:ext cx="6035040" cy="4434840"/>
          </a:xfrm>
          <a:prstGeom prst="roundRect">
            <a:avLst>
              <a:gd name="adj" fmla="val 2062"/>
            </a:avLst>
          </a:prstGeom>
          <a:solidFill>
            <a:srgbClr val="FFFFFF"/>
          </a:solidFill>
          <a:ln w="12700">
            <a:solidFill>
              <a:srgbClr val="D9E4F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77240" y="1572768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6B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우리가 해낸 것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95528" y="2103120"/>
            <a:ext cx="548640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✔  1주 : LED 하나 켜는 것부터 시작했어요</a:t>
            </a:r>
            <a:endParaRPr lang="en-US" sz="14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✔  2~3주 : 센서를 읽고, 웹을 만들고, 서버가 되었어요</a:t>
            </a:r>
            <a:endParaRPr lang="en-US" sz="14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✔  4주 : 클라우드에 데이터가 남기 시작했어요</a:t>
            </a:r>
            <a:endParaRPr lang="en-US" sz="14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✔  5~6주 : 설계하고, 연결하고, 통계까지 완성했어요</a:t>
            </a:r>
            <a:endParaRPr lang="en-US" sz="14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✔  7주 : 남 앞에서 증명했어요 — 완주!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812280" y="1371600"/>
            <a:ext cx="4873752" cy="4434840"/>
          </a:xfrm>
          <a:prstGeom prst="roundRect">
            <a:avLst>
              <a:gd name="adj" fmla="val 2062"/>
            </a:avLst>
          </a:prstGeom>
          <a:solidFill>
            <a:srgbClr val="0B1B33"/>
          </a:solidFill>
          <a:ln/>
        </p:spPr>
      </p:sp>
      <p:sp>
        <p:nvSpPr>
          <p:cNvPr id="7" name="Shape 5"/>
          <p:cNvSpPr/>
          <p:nvPr/>
        </p:nvSpPr>
        <p:spPr>
          <a:xfrm flipV="1">
            <a:off x="8842248" y="5047488"/>
            <a:ext cx="685800" cy="365760"/>
          </a:xfrm>
          <a:prstGeom prst="line">
            <a:avLst/>
          </a:prstGeom>
          <a:noFill/>
          <a:ln w="12700">
            <a:solidFill>
              <a:srgbClr val="1BC3E8">
                <a:alpha val="5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528048" y="5047488"/>
            <a:ext cx="685800" cy="502920"/>
          </a:xfrm>
          <a:prstGeom prst="line">
            <a:avLst/>
          </a:prstGeom>
          <a:noFill/>
          <a:ln w="12700">
            <a:solidFill>
              <a:srgbClr val="1BC3E8">
                <a:alpha val="5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10213848" y="5184648"/>
            <a:ext cx="640080" cy="365760"/>
          </a:xfrm>
          <a:prstGeom prst="line">
            <a:avLst/>
          </a:prstGeom>
          <a:noFill/>
          <a:ln w="12700">
            <a:solidFill>
              <a:srgbClr val="1BC3E8">
                <a:alpha val="5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853928" y="5184648"/>
            <a:ext cx="594360" cy="457200"/>
          </a:xfrm>
          <a:prstGeom prst="line">
            <a:avLst/>
          </a:prstGeom>
          <a:noFill/>
          <a:ln w="12700">
            <a:solidFill>
              <a:srgbClr val="1BC3E8">
                <a:alpha val="5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778240" y="5349240"/>
            <a:ext cx="128016" cy="128016"/>
          </a:xfrm>
          <a:prstGeom prst="ellipse">
            <a:avLst/>
          </a:prstGeom>
          <a:solidFill>
            <a:srgbClr val="1BC3E8"/>
          </a:solidFill>
          <a:ln/>
        </p:spPr>
      </p:sp>
      <p:sp>
        <p:nvSpPr>
          <p:cNvPr id="12" name="Shape 10"/>
          <p:cNvSpPr/>
          <p:nvPr/>
        </p:nvSpPr>
        <p:spPr>
          <a:xfrm>
            <a:off x="9464040" y="4983480"/>
            <a:ext cx="128016" cy="128016"/>
          </a:xfrm>
          <a:prstGeom prst="ellipse">
            <a:avLst/>
          </a:prstGeom>
          <a:solidFill>
            <a:srgbClr val="1BC3E8">
              <a:alpha val="70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10149840" y="5486400"/>
            <a:ext cx="128016" cy="128016"/>
          </a:xfrm>
          <a:prstGeom prst="ellipse">
            <a:avLst/>
          </a:prstGeom>
          <a:solidFill>
            <a:srgbClr val="1BC3E8"/>
          </a:solidFill>
          <a:ln/>
        </p:spPr>
      </p:sp>
      <p:sp>
        <p:nvSpPr>
          <p:cNvPr id="14" name="Shape 12"/>
          <p:cNvSpPr/>
          <p:nvPr/>
        </p:nvSpPr>
        <p:spPr>
          <a:xfrm>
            <a:off x="10789920" y="5120640"/>
            <a:ext cx="128016" cy="128016"/>
          </a:xfrm>
          <a:prstGeom prst="ellipse">
            <a:avLst/>
          </a:prstGeom>
          <a:solidFill>
            <a:srgbClr val="1BC3E8">
              <a:alpha val="70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11384280" y="5577840"/>
            <a:ext cx="128016" cy="128016"/>
          </a:xfrm>
          <a:prstGeom prst="ellipse">
            <a:avLst/>
          </a:prstGeom>
          <a:solidFill>
            <a:srgbClr val="1BC3E8"/>
          </a:solidFill>
          <a:ln/>
        </p:spPr>
      </p:sp>
      <p:sp>
        <p:nvSpPr>
          <p:cNvPr id="16" name="Text 14"/>
          <p:cNvSpPr/>
          <p:nvPr/>
        </p:nvSpPr>
        <p:spPr>
          <a:xfrm>
            <a:off x="7086600" y="1572768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C3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수료를 축하합니다 🎓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7114032" y="2103120"/>
            <a:ext cx="43434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4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여러분은 이제 IoT 시스템을 '전 구간' 만들어 본 사람</a:t>
            </a:r>
            <a:endParaRPr lang="en-US" sz="1450" dirty="0"/>
          </a:p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4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웹 · 하드웨어 · 클라우드 · 데이터를 모두 통과</a:t>
            </a:r>
            <a:endParaRPr lang="en-US" sz="1450" dirty="0"/>
          </a:p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4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프로젝트는 오늘보다 쉽게 느껴질 것</a:t>
            </a:r>
            <a:endParaRPr lang="en-US" sz="1450" dirty="0"/>
          </a:p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4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 감각이 7주의 진짜 성적표예요</a:t>
            </a:r>
            <a:endParaRPr lang="en-US" sz="1450" dirty="0"/>
          </a:p>
        </p:txBody>
      </p:sp>
      <p:sp>
        <p:nvSpPr>
          <p:cNvPr id="18" name="Shape 16"/>
          <p:cNvSpPr/>
          <p:nvPr/>
        </p:nvSpPr>
        <p:spPr>
          <a:xfrm>
            <a:off x="502920" y="5989320"/>
            <a:ext cx="11183112" cy="566928"/>
          </a:xfrm>
          <a:prstGeom prst="roundRect">
            <a:avLst>
              <a:gd name="adj" fmla="val 12903"/>
            </a:avLst>
          </a:prstGeom>
          <a:solidFill>
            <a:srgbClr val="E2F6FB"/>
          </a:solidFill>
          <a:ln/>
        </p:spPr>
      </p:sp>
      <p:sp>
        <p:nvSpPr>
          <p:cNvPr id="19" name="Text 17"/>
          <p:cNvSpPr/>
          <p:nvPr/>
        </p:nvSpPr>
        <p:spPr>
          <a:xfrm>
            <a:off x="731520" y="5989320"/>
            <a:ext cx="10744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기술은 도구이고, 여러분이 배운 것은 '문제를 해결하는 방법'이에요 — 어디에든 다시 쓸 수 있어요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Pretendar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2026-07-20T12:43:39Z</dcterms:created>
  <dcterms:modified xsi:type="dcterms:W3CDTF">2026-07-20T12:43:39Z</dcterms:modified>
</cp:coreProperties>
</file>