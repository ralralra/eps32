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842248" y="704088"/>
            <a:ext cx="68580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28048" y="704088"/>
            <a:ext cx="685800" cy="50292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0213848" y="841248"/>
            <a:ext cx="64008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53928" y="841248"/>
            <a:ext cx="594360" cy="45720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0" y="10058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7" name="Shape 5"/>
          <p:cNvSpPr/>
          <p:nvPr/>
        </p:nvSpPr>
        <p:spPr>
          <a:xfrm>
            <a:off x="9464040" y="64008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149840" y="114300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0" y="77724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384280" y="12344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457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기반 IoT 메이커 교육 · ESP32 × 고릴라셀 DSL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1051560"/>
            <a:ext cx="1691640" cy="475488"/>
          </a:xfrm>
          <a:prstGeom prst="roundRect">
            <a:avLst>
              <a:gd name="adj" fmla="val 50000"/>
            </a:avLst>
          </a:prstGeom>
          <a:solidFill>
            <a:srgbClr val="132C4F"/>
          </a:solidFill>
          <a:ln w="12700">
            <a:solidFill>
              <a:srgbClr val="1BC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05156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6회차 / 7회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1783080"/>
            <a:ext cx="11155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심장을 연결한다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엔드 투 엔드 완성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502920" y="33101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FC3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터치 한 번이 하드웨어를 움직이고 데이터로 남는, 끊김 없는 한 줄기 흐름을 만들어요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배선 확정 · 센서 캘리브레이션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64992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7872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47872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시나리오 엔드 투 엔드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27064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9944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9944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통계 · CSV · 알림 완성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089136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72016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72016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데모 · 기능 동결 · AI 심화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3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구현 · 데이터 · 통계 · 4시간 과정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목표와 흐름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50분 수업 + 10분 휴식 · 4교시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806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2139696"/>
            <a:ext cx="384048" cy="384048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02996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팀의 핵심 시나리오 1개를 웹→ESP32→시트까지 끊김 없이 완성해요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2920" y="3337560"/>
            <a:ext cx="5806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" y="3557016"/>
            <a:ext cx="384048" cy="384048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344728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쌓인 데이터로 통계(합계·순위)를 계산해 웹 화면에 표시해요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02920" y="4754880"/>
            <a:ext cx="5806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4974336"/>
            <a:ext cx="384048" cy="384048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4974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486460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 동결을 선언하고, 여유가 있으면 AI 선택 기능에 도전해요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72084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시간표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920240"/>
          <a:ext cx="496519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95935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활동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팀별 배선 확정 · 핵심 센서 단독 테스트 · 캘리브레이션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시나리오 1개 완성 (템플릿 수정 방식)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Apps Script 집계 함수 · 통계 화면 · CSV · 알림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팀별 3분 중간 데모 · 상호 피드백 · 기능 동결 · AI 스테이션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개발 전략 — 처음부터 다시 쓰지 않아요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4회차 템플릿을 '조금씩 고쳐서' 내 프로젝트로 만들어요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3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810512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490472"/>
            <a:ext cx="10149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동작하는 상태를 유지하며 조금씩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번에 왕창 고치면 어디서 틀렸는지 못 찾아요 — 고치고, 확인하고, 또 고쳐요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715768"/>
            <a:ext cx="11183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3108960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788920"/>
            <a:ext cx="10149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템플릿에서 바꿀 곳은 3군데뿐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ESP32의 센서 읽기 부분 ② Apps Script의 action 함수들 ③ 웹앱 화면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4014216"/>
            <a:ext cx="11183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4407408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4087368"/>
            <a:ext cx="10149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개발자들도 똑같이 일해요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 되는 코드에서 출발하는 것은 부끄러운 일이 아니라 '전문가의 방식'이에요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캘리브레이션 — 기준값 측정 (화분팀 예시)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센서를 믿으려면, 먼저 센서를 의심해야 해요 — 전 팀 공통 원리!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806440" cy="4434840"/>
          </a:xfrm>
          <a:prstGeom prst="roundRect">
            <a:avLst>
              <a:gd name="adj" fmla="val 2062"/>
            </a:avLst>
          </a:prstGeom>
          <a:solidFill>
            <a:srgbClr val="0F2240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554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920240"/>
            <a:ext cx="53492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SOIL 34 // A2~A5 위치 포트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WiFi 사용 중 다른 아날로그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자리(ADC2)는 먹통!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1단계 : 원시값 관찰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raw = analogRead(SOIL);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Serial.println(raw);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공기 중(건조) 값 : ____ 기록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물컵 속(습윤) 값 : ____ 기록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2단계 : 0~100%로 번역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pct = map(raw, 건조값, 습윤값,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0, 100);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pct = constrain(pct, 0, 100);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46304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건조·습윤 '기준값 측정'이 캘리브레이션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원시값은 그대로 못 써요 — 기준을 잡아 해석하는 것이 데이터 다루기의 본질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값이 반대로 움직이면 map의 건조값·습윤값 순서를 서로 바꾸면 돼요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팀 : 우산=초음파·무게 기준값 / 출석=홀센서 감지 거리 / 매점=무게 영점+상품 1개 무게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📸 배선 사진 + 건조/습윤 시리얼 캡처를 남겨요 — 기록이 발표 때 신뢰의 근거!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팀별 핵심 시나리오 — 오늘 뚫어야 할 한 줄기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합격선 : 핵심 시나리오 '단 1개'가 전 구간 관통 — 여러 기능 어중간보다 한 기능 완벽!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206240"/>
                <a:gridCol w="3474720"/>
                <a:gridCol w="2130552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시나리오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하드웨어 반응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시트 기록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① 매점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웹에서 [콜라 판매] 터치 → 재고 1 차감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LCD 'SOLD: cola' + LED 깜빡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판매로그 1줄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② 키오스크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장바구니 [주문] → 주문번호 발급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LCD에 주문번호 크게 표시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주문로그 1줄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③ 우산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웹 QR 스캔 → 대여 처리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무게 변화 확인 + LCD 안내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대여로그 1줄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④ 화분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수분 20% 미만 감지 → 급수 알림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LCD '급수 필요!' + 웹 경고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급수로그 1줄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⑤ 출석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웹 체크인 → 인원 +1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LCD 인원 갱신 + LED 깜빡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출입로그 1줄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: 폰 조작 → 3초 안에 장치 반응 → 시트에 새 줄. 셋이 모두 보이면 통과! (QR은 웹에서 — html5-qrcode)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 요령 — action 하나를 끝까지 뚫기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매점팀 예시 : 다른 팀도 이름만 바꾸면 같은 구조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806440" cy="5074920"/>
          </a:xfrm>
          <a:prstGeom prst="roundRect">
            <a:avLst>
              <a:gd name="adj" fmla="val 1802"/>
            </a:avLst>
          </a:prstGeom>
          <a:solidFill>
            <a:srgbClr val="0F2240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554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920240"/>
            <a:ext cx="53492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[웹앱 JS] 판매 버튼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fetch(URL +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"?action=sell&amp;item=cola");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[Apps Script]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sell(e)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item = e.parameter.item;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log.appendRow(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[new Date(), item, 1]);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재고 시트에서 해당 행 -1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cmd.getRange("A1")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.setValue("SOLD:" + item);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ContentService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.createTextOutput("OK");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[ESP32] 폴링에서 SOLD: 발견 시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LCD 표시 + LED 깜빡 → A1 비움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46304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웹은 action만 던져요 — 판단은 서버(Apps Script)가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하드웨어 알림은 명령 셀(A1)을 통해 전달 (4회차 폴링 그대로)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후 A1을 비워야 알림이 한 번만 울려요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구간씩 시리얼 모니터·시트를 보며 확인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엔드 투 엔드 3종 증거 — 합격 판정법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번의 터치가 세 화면에 동시에 나타나야 해요 (조작 1명 · 촬영 1명 · 시트 감시 1명)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212080" cy="1508760"/>
          </a:xfrm>
          <a:prstGeom prst="roundRect">
            <a:avLst>
              <a:gd name="adj" fmla="val 6061"/>
            </a:avLst>
          </a:prstGeom>
          <a:solidFill>
            <a:srgbClr val="FAFCFF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02920" y="16687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2244852"/>
            <a:ext cx="46634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자리 — 증거 ① 폰 조작 화면 캡처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3200400"/>
            <a:ext cx="5212080" cy="1508760"/>
          </a:xfrm>
          <a:prstGeom prst="roundRect">
            <a:avLst>
              <a:gd name="adj" fmla="val 6061"/>
            </a:avLst>
          </a:prstGeom>
          <a:solidFill>
            <a:srgbClr val="FAFCFF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02920" y="34518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77240" y="4027932"/>
            <a:ext cx="46634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자리 — 증거 ② 장치 반응 사진(또는 영상 캡처)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4983480"/>
            <a:ext cx="5212080" cy="1508760"/>
          </a:xfrm>
          <a:prstGeom prst="roundRect">
            <a:avLst>
              <a:gd name="adj" fmla="val 6061"/>
            </a:avLst>
          </a:prstGeom>
          <a:solidFill>
            <a:srgbClr val="FAFCFF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02920" y="52349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77240" y="5811012"/>
            <a:ext cx="46634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자리 — 증거 ③ 시트에 추가된 새 줄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1371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순서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26480" y="2121408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178308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폰에서 핵심 버튼 터치 → 폰 화면 캡처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증거 ① 사용자 행동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26480" y="3218688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3218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288036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장치 반응(LCD·LED)을 영상 촬영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증거 ② 하드웨어 반응 — 발표 백업 영상으로도 사용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126480" y="4315968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4315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0" y="397764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시트에 새 줄이 생기는 순간 캡처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증거 ③ 데이터 기록 — 시각까지 함께 보이게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126480" y="5413248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5413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83680" y="507492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터치→반응까지 몇 초였는지도 기록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증거의 시각이 같은 1분 안이면 공식 인증!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Apps Script 집계 — 인기 순위 만들기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기록의 목적은 저장이 아니라 '결정' — 판매로그를 세면 인기 순위가 돼요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806440" cy="5074920"/>
          </a:xfrm>
          <a:prstGeom prst="roundRect">
            <a:avLst>
              <a:gd name="adj" fmla="val 1802"/>
            </a:avLst>
          </a:prstGeom>
          <a:solidFill>
            <a:srgbClr val="0F2240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554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920240"/>
            <a:ext cx="53492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stats()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rows = log.getDataRange()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.getValues();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count = {};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(let i = 1;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i &lt; rows.length; i++)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item = rows[i][1];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count[item] =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(count[item] || 0) + 1;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ContentService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.createTextOutput(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JSON.stringify(count))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.setMimeType(ContentService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.MimeType.JSON);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응답: {"cola":12, "chip":7}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46304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getValues() : 시트 전체를 표(2차원 배열)로 읽기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for문으로 한 줄씩 세기 — 엑셀 COUNTIF의 코드 버전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i=1부터! 0번째 줄은 '제목 행'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화분팀은 최근 24시간 평균, 우산팀은 이용 시간 계산 등 응용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CSV는 공짜 : 시트 → 파일 → 다운로드 → CSV — 발표 때 '데이터 파일'로 제출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알림 설계 — 빛과 글자에도 '문법'이 있어요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상태별 알림 표를 정하면 사용자가 배우지 않아도 이해해요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720215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72021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490472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성공 알림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LED 짧게 2회 + LCD 'OK' 문구 — 판매 완료, 출석 완료, 반납 완료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535174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2838069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283806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608326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경고 알림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LED 빠른 연속 점멸 + LCD '!!' — 재고 부족, 수분 부족, 우산 없음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653028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3955923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95592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3726180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안내 표시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LCD 1줄 = 상태 요약, 2줄 = 상세 (예: 'SOLD: cola / stock 6')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4770882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" y="5073777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507377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4844034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소리 알림은 폰이 담당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웹앱 프롬프트에 '알림 소리를 재생해줘' 한 줄 — 부저 없이도 폰이 스피커!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표로 정리해 발표 자료에 포함 — '왜 이렇게 정했나'를 설명할 수 있으면 최고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데모(팀당 3분)와 기능 동결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멈출 줄 아는 것도 실력이에요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3112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805940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805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490472"/>
            <a:ext cx="10149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데모 형식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시나리오를 '폰 → 장치 → 시트' 순서로 실연 — 설명은 짧게, 동작은 확실하게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706624"/>
            <a:ext cx="11183112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3095244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30952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779776"/>
            <a:ext cx="10149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 규칙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팀은 '좋은 점 1 + 개선 제안 1'을 포스트잇으로 — 비난 금지, 구체적으로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995928"/>
            <a:ext cx="11183112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4384548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43845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4069080"/>
            <a:ext cx="10149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 동결(Feature Freeze) 선언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지금부터 새 기능 추가 금지! 남은 시간은 오류 수정과 다듬기만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5285232"/>
            <a:ext cx="11183112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" y="5673852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5673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5358384"/>
            <a:ext cx="10149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동결할까요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전날 새 기능을 넣다가 전체가 깨지는 사고 — 개발 역사상 가장 흔한 비극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여유 팀 도전 — AI 스테이션 (선택·심화)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블록코딩 도구의 AI 기능 : PC+웹캠으로 '인식하는 부스' — 핵심 시스템 완성이 언제나 우선!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931920"/>
                <a:gridCol w="2926080"/>
                <a:gridCol w="2862072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선택 기능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① 매점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과자를 카메라에 대면 상품 자동 인식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이미지 분류 (직접 학습)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각 상품 사진 20장+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② 키오스크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"콜라 주세요" 음성 주문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음성 인식 블록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조용한 곳에서 시연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④ 화분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잎 사진으로 건강/시듦 판정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이미지 분류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급수 판단의 보조로만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⑤ 출석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이미지 인식 체크인 체험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이미지 분류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사진 저장 금지·사전 동의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학습 : 팀이 직접 데이터를 모아 모델을 학습시키는 경험 — 'AI는 데이터로 만들어진다'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 막히는 문제 해결소 — 6회차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막히면 이 표부터! 에러는 정보예요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118311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847088"/>
            <a:ext cx="384048" cy="384048"/>
          </a:xfrm>
          <a:prstGeom prst="ellipse">
            <a:avLst/>
          </a:prstGeom>
          <a:solidFill>
            <a:srgbClr val="FBEDEB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53619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버튼 → 장치 반응이 안 와요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구간 분리 점검 : ① URL?action=… 직접 열기 ② 시트 명령 셀 변하나 ③ 시리얼에 폴링 로그 찍히나 — 끊긴 구간만 고쳐요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1118311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" y="3127248"/>
            <a:ext cx="384048" cy="384048"/>
          </a:xfrm>
          <a:prstGeom prst="ellipse">
            <a:avLst/>
          </a:prstGeom>
          <a:solidFill>
            <a:srgbClr val="FBEDEB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81635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알림이 계속 반복해서 울려요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처리 후 명령 셀(A1)을 비우는 코드가 빠짐 — setValue("") 추가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920" y="4023360"/>
            <a:ext cx="1118311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" y="4407408"/>
            <a:ext cx="384048" cy="384048"/>
          </a:xfrm>
          <a:prstGeom prst="ellipse">
            <a:avLst/>
          </a:prstGeom>
          <a:solidFill>
            <a:srgbClr val="FBEDEB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09651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토양수분 % 값이 반대로 나와요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건조할수록 값이 큰 센서가 많아요 — map의 건조값·습윤값 순서를 바꾸면 해결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02920" y="5303520"/>
            <a:ext cx="1118311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" y="5687568"/>
            <a:ext cx="384048" cy="384048"/>
          </a:xfrm>
          <a:prstGeom prst="ellipse">
            <a:avLst/>
          </a:prstGeom>
          <a:solidFill>
            <a:srgbClr val="FBEDEB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" y="5687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537667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통계 숫자가 이상해요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getValues()의 0번째 줄은 '제목 행' — for문을 i=1부터 시작했는지 확인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수업 정리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603504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5727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우리가 해낸 것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5528" y="2103120"/>
            <a:ext cx="5486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센서 캘리브레이션으로 '믿을 수 있는 값'을 만들었어요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핵심 시나리오가 웹→장치→시트를 관통했어요 (엔드 투 엔드)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통계 화면과 CSV, 알림 문법까지 완성했어요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기능 동결 선언 — 이제 다듬기만 남았어요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12280" y="1371600"/>
            <a:ext cx="4873752" cy="4434840"/>
          </a:xfrm>
          <a:prstGeom prst="roundRect">
            <a:avLst>
              <a:gd name="adj" fmla="val 2062"/>
            </a:avLst>
          </a:prstGeom>
          <a:solidFill>
            <a:srgbClr val="0B1B33"/>
          </a:solidFill>
          <a:ln/>
        </p:spPr>
      </p:sp>
      <p:sp>
        <p:nvSpPr>
          <p:cNvPr id="7" name="Shape 5"/>
          <p:cNvSpPr/>
          <p:nvPr/>
        </p:nvSpPr>
        <p:spPr>
          <a:xfrm flipV="1">
            <a:off x="8842248" y="5047488"/>
            <a:ext cx="68580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28048" y="5047488"/>
            <a:ext cx="685800" cy="50292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0213848" y="5184648"/>
            <a:ext cx="64008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53928" y="5184648"/>
            <a:ext cx="594360" cy="45720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53492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2" name="Shape 10"/>
          <p:cNvSpPr/>
          <p:nvPr/>
        </p:nvSpPr>
        <p:spPr>
          <a:xfrm>
            <a:off x="9464040" y="498348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149840" y="548640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89920" y="512064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384280" y="55778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0" y="15727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시간 — 7회차 : 최종 발표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14032" y="2103120"/>
            <a:ext cx="4343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팀이 우리 시스템을 써보는 교차 테스트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자료 + 리허설 + 백업 영상 촬영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팀별 발표 : 5분 발표 + 4분 시연 + 2분 질의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7주의 마무리, 그리고 시상!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😄 오늘 밤 할 일 없음! — 기능 동결이니까. 대신 우리 시스템을 아껴주기. 다음 주가 본 무대예요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2026-07-20T11:51:45Z</dcterms:created>
  <dcterms:modified xsi:type="dcterms:W3CDTF">2026-07-20T11:51:45Z</dcterms:modified>
</cp:coreProperties>
</file>